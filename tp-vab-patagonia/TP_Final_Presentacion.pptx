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20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F618-8267-A0AF-0ED5-24D91BCC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A329D-6E91-05DE-83C9-BF1223498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75CE9-8509-E343-2AC9-95FC9A819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FE01B-3E06-A423-10C8-50BA59D36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1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— FCE-UBA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patagónica en el VAB nacional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sector extractivo y Vaca Muerta (2004–2024)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73152" cy="137160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provincias patagónicas aumentaron su participación en el VAB nacional entre 2004 y 2024, impulsadas principalmente por el crecimiento del sector extractivo, en particular en Neuquén a partir del desarrollo de Vaca Muerta."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Navarro – </a:t>
            </a:r>
            <a:r>
              <a:rPr lang="en-US" sz="1800" dirty="0" err="1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Nro</a:t>
            </a:r>
            <a:r>
              <a:rPr lang="en-US" sz="18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Registro: 886569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esta pregunta?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Patagonia argentina concentra la mayor parte de las reservas hidrocarburíferas del país. El desarrollo intensivo del yacimiento no convencional de Vaca Muerta (Neuquén), iniciado a partir de 2014, transformó la matriz productiva regional y generó un fuerte impulso al sector extractivo.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173736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mundial de gas no convencional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(EE.UU. lidera el ranking)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520440" cy="173736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434840" y="34290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mundial de petróleo no convencional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468880"/>
            <a:ext cx="3520440" cy="173736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138160" y="34290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producción de gas no convencional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últimos 10 años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73152" cy="155448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pregunta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medida ese impulso al sector extractivo se tradujo en una mayor participación de las provincias patagónicas en el producto nacional entre 2004 y 2024? ¿Es Vaca Muerta el motor de esa transformación, o son otros factores los que explican la dinámica regional?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dato contextual: Energy Information Administration (EIA) y Secretaría de Energía de la Nación.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TRABAJO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24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24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" cy="219456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PRINCIPAL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provincias patagónicas aumentaron su participación en el VAB nacional entre 2004 y 2024, impulsadas principalmente por el crecimiento del sector extractivo, en particular en Neuquén a partir del desarrollo de Vaca Muerta.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73152" cy="219456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COMPLEMENTARIA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intensivo de Vaca Muerta marca un punto de quiebre: el crecimiento del VAB extractivo de Neuquén es significativamente distinto en el período posterior a 2014 respecto del período previo.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elegida: MECON-CEPAL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Desagregación provincial del valor agregado bruto de la Argentina, base 2004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CEPAL — Ministerio de Economía de la Nación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LC/TS.2022/196 — Diciembre 2022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 actualización a 2024 publicada por CEPAL)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ELIGE ESTA 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que permite estudiar la evolución del VAB a nivel sector × provincia × año con cobertura nacional completa y metodología consistente, en términos reales (precios constantes 2004).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58368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geográfica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2128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jurisdicciones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 provincias + CABA)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807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sectorial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305409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sectores (CIIU Rev. 3.1)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648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8953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— 2024 (21 años)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489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47365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pesos const. 2004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5330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5577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Sumadas, las 24 jurisdicciones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igualan el VAB nacional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panel y estructura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PANEL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jurisdicciones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828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632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828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0352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1828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5438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26.208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5438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PRINCIPALES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Jurisdicción (24)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CIIU Rev. 3.1 (52)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 del dato (2004–2024)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VAB a precios básicos, mill. de $ const. 2004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es_extractivo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para los 2 sectores extractivos (derivada)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Pampeana, CABA, NOA, NEA, Cuyo, Patagonia (derivada)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limpieza (01_limpieza.R)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original es un Excel con 26 hojas (una por jurisdicción) que requirió varias transformaciones antes de poder analizarse en 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unión de hojas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24 hojas provinciales unificadas en un único dataframe (read_excel + bind_rows).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0807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headers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1945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5 filas de cada hoja son títulos y subtítulos (skip = 5).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formato tidy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2918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pivot_longer() para pasar de columnas-año a filas-año (provincia–sector–año–vab).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01752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0807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 notas al pie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2918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filas que empiezan con "(" (notas y aclaraciones de la fuente).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del período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2004–2024.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411480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60807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la hoja No_distribuido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no asignables a una jurisdicción específica.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la fila resumen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486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"VAB a precios básicos" para no duplicar valores en agregaciones.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5212080"/>
            <a:ext cx="411480" cy="41148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608076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derivadas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9400" y="5486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es_extractivo, region, participacion y variacion_pct.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VAB: asimetría extrema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26.208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43484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7830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446,3 mill.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55280" y="137160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13816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17830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52,3 mill.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DESVÍO ESTÁNDAR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1.603,4 mill.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51960" y="265176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43484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DE VARIACIÓN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3063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359,4 %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55280" y="265176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813816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(G₁)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38160" y="3063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8,97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201168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3152" cy="201168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22960" y="4297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es casi 9 veces la mediana y la asimetría es muy alta (g₁ = 8,97): la distribución del VAB tiene una cola derecha muy pronunciada. Pocas combinaciones provincia–sector (Industria en Buenos Aires, Comercio en CABA) concentran la mayor parte del VAB nacional.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metodológica: se </a:t>
            </a:r>
            <a:r>
              <a:rPr lang="en-US" sz="1250" b="1" i="1" dirty="0" err="1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</a:t>
            </a:r>
            <a:r>
              <a:rPr lang="en-US" sz="1250" b="1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participaciones (shares) en lugar de niveles del VAB. Los shares neutralizan las diferencias de escala y permiten comparaciones válidas entre provincias.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calidad de datos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faltantes tras la limpieza. La base original ya viene completa para todas las combinaciones provincia–sector–año.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5204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520440" cy="73152"/>
          </a:xfrm>
          <a:prstGeom prst="rect">
            <a:avLst/>
          </a:prstGeom>
          <a:solidFill>
            <a:srgbClr val="5B5B5B"/>
          </a:solidFill>
          <a:ln w="12700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48056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2.057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80560" y="32461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efectivamente ausentes en algunas provincias (7,8% de las observaciones). Son ceros estructurales, no errores: hay provincias sin actividad pesquera, minera, etc.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371600"/>
            <a:ext cx="35204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7955280" y="1371600"/>
            <a:ext cx="3520440" cy="73152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18388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(IQR, 2024)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183880" y="32461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12,7% de las obs. de 2024. Representan la concentración productiva real (Buenos Aires, CABA, Neuquén): son datos genuinos, no anomalías a filtrar.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base no requiere imputaciones ni filtrado de outliers; los "valores extremos" reflejan la realidad económica argentina.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por región en el VAB nacional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300" i="1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</a:t>
            </a: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24 jurisdicciones en 6 regiones (estándar INDEC, con CABA separada) y calculamos el peso de cada una en 2004 vs. 2024: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68833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2004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Pampeana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Cuyo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11064240" cy="141732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548640" y="4937760"/>
            <a:ext cx="73152" cy="1417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 gana 0,29 pp de participación (resultado consistente con la hipótesis). Los principales perdedores son CABA (−0,89) y Cuyo (−0,52). Pampeana se mantiene estable. NOA y NEA también ganan algo de peso.</a:t>
            </a:r>
            <a:endParaRPr lang="en-US" sz="1250" dirty="0"/>
          </a:p>
        </p:txBody>
      </p:sp>
      <p:sp>
        <p:nvSpPr>
          <p:cNvPr id="5" name="Text 7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por provincia: ganadoras y perdedoras (2004→2024)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GANADORAS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solidFill>
            <a:srgbClr val="FFEEEA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Neuquén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709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1709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+1,13 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Córdoba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21671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Pampeana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1671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+0,71 pp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85800" y="2624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Santiago del Estero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6243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6243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+0,33 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8580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Entre Ríos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081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Pampeana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081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+0,23 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85800" y="35387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5387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5387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+0,16 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PERDEDORAS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263640" y="1709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Ciudad de Buenos Aires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06840" y="1709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95560" y="1709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−0,89 pp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1488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6263640" y="21671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Mendoza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06840" y="21671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Cuyo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95560" y="21671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−0,62 pp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6060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6263640" y="2624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Santa Cruz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06840" y="2624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95560" y="26243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−0,45 pp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30632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6263640" y="3081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Chubut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06840" y="30815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195560" y="3081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−0,44 pp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26480" y="35204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263640" y="3538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Santa Fe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06840" y="35387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Pampeana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195560" y="35387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−0,30 pp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297680"/>
            <a:ext cx="11064240" cy="20574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548640" y="4297680"/>
            <a:ext cx="73152" cy="205740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observaciones clave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Neuquén es la mayor ganadora del país, con un salto que duplica al del segundo (Córdoba).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Patagonia es polarizada: Neuquén crece fuerte mientras Santa Cruz y Chubut caen marcadamente.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CABA y Mendoza son las grandes perdedoras estructurales del período.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métodos estadísticos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la pregunta de </a:t>
            </a:r>
            <a:r>
              <a:rPr lang="en-US" sz="1300" i="1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i="1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</a:t>
            </a: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cuatro métodos complementarios. Juntos cubren el ciclo desde la descripción hasta la inferencia y la explicación del mecanismo: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Participaciones (shares) y CAGR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fenómeno: ¿aumentó la participación patagónica? ¿A qué ritmo creció vs. el nacional?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18320" y="2240280"/>
            <a:ext cx="1920240" cy="3200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941832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 de Welch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 estadísticamente: ¿el cambio entre pre y post Vaca Muerta es significativo?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0" y="3337560"/>
            <a:ext cx="1920240" cy="3200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94183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51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Pearson y Spearman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617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asociación: ¿se mueven juntas la participación extractiva y total de Neuquén?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18320" y="4434840"/>
            <a:ext cx="1920240" cy="3200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941832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777240" y="5486400"/>
            <a:ext cx="457200" cy="45720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7772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5349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sectorial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17320" y="5715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 el mecanismo: ¿cuánto del crecimiento provincial aporta cada sector?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18320" y="5532120"/>
            <a:ext cx="1920240" cy="3200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9418320" y="5532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1  ·  SHARES Y CAGR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Patagonia recupera peso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 2004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263640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+0,29 pp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en la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2004→2024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37160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9052560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52560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Patagonia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1,78% nacional)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DEL VAB EXTRACTIVO DE NEUQUÉN: PRE vs. POST VACA MUERTA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Pre-Vaca Muerta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2004–2014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Declive sostenido del extractivo neuquino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Post-Vaca Muerta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2014–2024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+11,46%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Quiebre y expansión acelerada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CAGR es de casi 16 puntos porcentuales: el VAB extractivo de Neuquén pasó de caer al −4,3% anual a crecer al +11,5% anual, coincidiendo con la intensificación de Vaca Muerta. Esta es la señal más fuerte a favor de la hipótesis principal.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1  ·  VISUALIZACIÓN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participación patagónica (2004–2024)</a:t>
            </a:r>
            <a:endParaRPr lang="en-US" sz="2400" dirty="0"/>
          </a:p>
        </p:txBody>
      </p:sp>
      <p:pic>
        <p:nvPicPr>
          <p:cNvPr id="4" name="Image 0" descr="/home/claude/grafico_comunicacio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11430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puntos clave: el inicio (2004), el mínimo histórico (2011) y la recuperación post-2014. La participación final supera el nivel inicial en +0,29 pp.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1  ·  VISUALIZACIÓN EXPLORATORIA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geografía del cambio en participación</a:t>
            </a:r>
            <a:endParaRPr lang="en-US" sz="2400" dirty="0"/>
          </a:p>
        </p:txBody>
      </p:sp>
      <p:pic>
        <p:nvPicPr>
          <p:cNvPr id="4" name="Image 0" descr="/home/claude/grafico_explorator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30352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280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Neuquén, el caso atípico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943600" y="17830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en la matriz productiva nacional se concentra en muy pocas jurisdicciones. Neuquén destaca en azul; CABA, Mendoza, Santa Cruz y Chubut, en rojo.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2697480"/>
            <a:ext cx="5852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5"/>
          <p:cNvSpPr/>
          <p:nvPr/>
        </p:nvSpPr>
        <p:spPr>
          <a:xfrm>
            <a:off x="5943600" y="2697480"/>
            <a:ext cx="54864" cy="960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172200" y="27889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NEUQUÉN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2200" y="30175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+1,13 pp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72200" y="33832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salto del país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3840480"/>
            <a:ext cx="5852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5943600" y="3840480"/>
            <a:ext cx="54864" cy="96012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6172200" y="39319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PATAGONIA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72200" y="41605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−0,84 pp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72200" y="45262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Cruz, Chubut y T. del Fuego caen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4983480"/>
            <a:ext cx="5852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5"/>
          <p:cNvSpPr/>
          <p:nvPr/>
        </p:nvSpPr>
        <p:spPr>
          <a:xfrm>
            <a:off x="5943600" y="4983480"/>
            <a:ext cx="54864" cy="96012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6172200" y="50749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 + MENDOZA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72200" y="53035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−1,51 pp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72200" y="56692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perdedores estructurales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2  ·  TEST t DE WELCH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¿Cambió la participación post-Vaca Muerta?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DEL TEST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: μ post = μ pre   (la participación media no cambió entre ambos sub-períodos)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: μ post ≠ μ pre   (sí cambió)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49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(pre / post)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47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pre (2004-2013)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447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post (2014-2024)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8313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8,79%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15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42153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+0,19 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599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t-estadístico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599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libertad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983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67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5367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751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5751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[−0,28 ; +0,65]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514600"/>
            <a:ext cx="5349240" cy="37490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53796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 significativo al 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34747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(0,404) es muy superior a 0,05: no rechazamos H₀.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esto no significa que la hipótesis sea falsa. Con n = 10 y n = 11 por sub-período, el test tiene poder estadístico bajo: solo detectaría cambios muy grandes. La diferencia observada (+0,19 pp) y el sentido del IC (mayormente positivo) son consistentes con un efecto real que el test no llega a capturar con esta muestra.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3  ·  CORRELACIÓN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 extractivo vs. VAB total de Neuquén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mueven juntas la participación del sector extractivo de Neuquén y su participación total en el VAB nacional? Se </a:t>
            </a:r>
            <a:r>
              <a:rPr lang="en-US" sz="1300" i="1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calculan</a:t>
            </a: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coeficientes complementarios sobre la serie 2004–2024 (n = 21):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0,966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lineal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cuán cerca están los puntos de una línea recta.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349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0,958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monótona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relación creciente, sea o no lineal. Robusto a no linealidades.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73152" cy="1143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muy alta y positiva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dinámica del VAB extractivo y la participación total de Neuquén se mueven de forma casi idéntica. Esto sostiene el mecanismo propuesto en la hipótesis: el sector extractivo es el motor de la economía neuquina.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4  ·  DESCOMPOSICIÓN SECTORIAL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de cada sector al crecimiento provincial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provincia descomponemos el crecimiento del VAB 2004-2024 según la contribución de cada sector. La fórmula: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Contribución(sector, provincia) = (VAB_2024 − VAB_2004) / VAB_provincial_2004 × 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para las provincias con mayor crecimiento: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Crecimiento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líder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crecimiento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Neuquén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petróleo y 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+51,5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Santiago del Estero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 y ganadería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+33,9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Córdoba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Comercio mayorista y minorista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+12,3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Buenos Aires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Comercio mayorista y minorista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+7,5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Chubut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+4,1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548640" y="5212080"/>
            <a:ext cx="73152" cy="114300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la mitad (56,0%) del crecimiento de Neuquén se explica por la extracción de petróleo y gas. Ninguna otra provincia depende tanto de un único sector — ni siquiera Santiago del Estero, cuyo sector agropecuario explica el 42,3% de su crecimiento.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Neuquén es una excepción dentro de Patagonia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dentro de la Patagonia: share del VAB extractivo nacional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2004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Neuquén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Único que crece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Cruz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Cae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Chubut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Cae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Río Negro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Cae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Tierra del Fuego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13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Cae fuerte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64240" cy="192024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73152" cy="192024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es de concentración, no de expansión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Neuquén pasó de explicar el 31% del extractivo nacional a explicar más de la mitad (52,7%). Las otras 4 provincias patagónicas perdieron peso simultáneamente en el extractivo (yacimientos maduros). El crecimiento patagónico de +0,29 pp es entonces el resultado neto de un crecimiento muy fuerte concentrado en una sola provincia (Neuquén, gracias a Vaca Muerta) compensando parcialmente la caída del resto.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responden los datos a la hipótesis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principal se sostiene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Patagonia pasó de 9,59% a 9,88% del VAB nacional (+0,29 pp), con CAGR de 1,93% anual, por encima del 1,78% nacional. La participación se recuperó sostenidamente desde 2014.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es Neuquén, con un matiz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Neuquén explica casi todo el aumento patagónico (+1,13 pp). El resto perdió peso. La transformación regional es de concentración productiva, no de expansión uniforme.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extractivo es el motor (Pearson 0,97)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VAB extractivo y total de Neuquén se mueven juntos. Más del 56% del crecimiento neuquino se explica por petróleo y gas: una dependencia mayor que la de cualquier otra provincia de un único sector.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5B5B5B"/>
          </a:solidFill>
          <a:ln w="12700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quiebre temporal no es estadísticamente significativo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t no rechaza H₀ (p = 0,40), pero la baja N (10/11) limita el poder estadístico. La evidencia descriptiva y la descomposición sectorial sí apoyan el quiebre post-2014.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Elaboración propia en base a MECON-CEPAL (LC/TS.2022/196).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6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— FCE-UBA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E06C-396D-6410-019E-176DD0AC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1456C5-F64F-CE93-3281-4E04365B55D5}"/>
              </a:ext>
            </a:extLst>
          </p:cNvPr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B13507"/>
          </a:solidFill>
          <a:ln w="12700">
            <a:solidFill>
              <a:srgbClr val="B1350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54CFD8-F61A-2B2F-6193-9550E16ACDEB}"/>
              </a:ext>
            </a:extLst>
          </p:cNvPr>
          <p:cNvSpPr/>
          <p:nvPr/>
        </p:nvSpPr>
        <p:spPr>
          <a:xfrm>
            <a:off x="0" y="1645920"/>
            <a:ext cx="1216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44F92D-4E45-2F25-1F77-0A146C5E8795}"/>
              </a:ext>
            </a:extLst>
          </p:cNvPr>
          <p:cNvSpPr/>
          <p:nvPr/>
        </p:nvSpPr>
        <p:spPr>
          <a:xfrm>
            <a:off x="2510287" y="2606040"/>
            <a:ext cx="7589520" cy="141732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FF7ED9-A088-1A8C-3962-97F2BCF93624}"/>
              </a:ext>
            </a:extLst>
          </p:cNvPr>
          <p:cNvSpPr/>
          <p:nvPr/>
        </p:nvSpPr>
        <p:spPr>
          <a:xfrm>
            <a:off x="2510287" y="2743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13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CÓDIGO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DFB3A8-A4FB-5E1F-9078-F38BD7A3AB71}"/>
              </a:ext>
            </a:extLst>
          </p:cNvPr>
          <p:cNvSpPr/>
          <p:nvPr/>
        </p:nvSpPr>
        <p:spPr>
          <a:xfrm>
            <a:off x="2510287" y="30632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https://github.com/JaviNavarro1/tp-vab-patagonia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7CD591-B97F-5D68-AF43-3214E4F374D4}"/>
              </a:ext>
            </a:extLst>
          </p:cNvPr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— FCE-UBA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26113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2589</Words>
  <Application>Microsoft Office PowerPoint</Application>
  <PresentationFormat>Panorámica</PresentationFormat>
  <Paragraphs>444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Final - Participación patagónica en el VAB nacional</dc:title>
  <dc:subject>PptxGenJS Presentation</dc:subject>
  <dc:creator>Grupo TP Ciencia de Datos</dc:creator>
  <cp:lastModifiedBy>Javier Ivan Navarro Rodriguez</cp:lastModifiedBy>
  <cp:revision>2</cp:revision>
  <dcterms:created xsi:type="dcterms:W3CDTF">2026-06-22T23:28:07Z</dcterms:created>
  <dcterms:modified xsi:type="dcterms:W3CDTF">2026-06-23T00:04:09Z</dcterms:modified>
</cp:coreProperties>
</file>